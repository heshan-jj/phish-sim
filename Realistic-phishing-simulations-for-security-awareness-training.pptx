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embeddedFontLst>
    <p:embeddedFont>
      <p:font typeface="Roboto Condensed" panose="02000000000000000000" pitchFamily="2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E8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882" autoAdjust="0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01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72927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D0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E8E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D0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E8E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D0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E8E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D0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E8E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D0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E8E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D0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E8E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D0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E8E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Relationship Id="rId9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svg"/><Relationship Id="rId7" Type="http://schemas.openxmlformats.org/officeDocument/2006/relationships/image" Target="../media/image2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824362" y="628576"/>
            <a:ext cx="3281437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PHISH-SIM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3824362" y="1116509"/>
            <a:ext cx="4924276" cy="19487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REALISTIC PHISHING SIMULATIONS FOR SECURITY AWARENESS TRAINING</a:t>
            </a:r>
            <a:endParaRPr lang="en-US" sz="3050" dirty="0"/>
          </a:p>
        </p:txBody>
      </p:sp>
      <p:sp>
        <p:nvSpPr>
          <p:cNvPr id="5" name="Text 2"/>
          <p:cNvSpPr/>
          <p:nvPr/>
        </p:nvSpPr>
        <p:spPr>
          <a:xfrm>
            <a:off x="3824362" y="3200251"/>
            <a:ext cx="4924276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Empowering organizations to train employees with real-world phishing scenarios — and measure what actually sticks.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3824362" y="3630960"/>
            <a:ext cx="1352029" cy="197644"/>
          </a:xfrm>
          <a:prstGeom prst="roundRect">
            <a:avLst>
              <a:gd name="adj" fmla="val 6859"/>
            </a:avLst>
          </a:prstGeom>
          <a:solidFill>
            <a:srgbClr val="E7E7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3892079" y="3664818"/>
            <a:ext cx="1673796" cy="129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BUILDATHON PROJECT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5232871" y="3626197"/>
            <a:ext cx="743917" cy="207169"/>
          </a:xfrm>
          <a:prstGeom prst="roundRect">
            <a:avLst>
              <a:gd name="adj" fmla="val 6544"/>
            </a:avLst>
          </a:prstGeom>
          <a:noFill/>
          <a:ln w="4763">
            <a:solidFill>
              <a:srgbClr val="1E1E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305351" y="3664818"/>
            <a:ext cx="1056159" cy="129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dirty="0"/>
              <a:t>Team </a:t>
            </a:r>
            <a:r>
              <a:rPr lang="en-US" sz="700" dirty="0" err="1"/>
              <a:t>Quadwits</a:t>
            </a:r>
            <a:endParaRPr lang="en-US" sz="700" dirty="0"/>
          </a:p>
        </p:txBody>
      </p:sp>
      <p:sp>
        <p:nvSpPr>
          <p:cNvPr id="12" name="Text 8"/>
          <p:cNvSpPr/>
          <p:nvPr/>
        </p:nvSpPr>
        <p:spPr>
          <a:xfrm>
            <a:off x="4191446" y="4052739"/>
            <a:ext cx="4444231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endParaRPr lang="en-US" sz="85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055B59-FCC7-A350-E11B-87CBAC5EC8A1}"/>
              </a:ext>
            </a:extLst>
          </p:cNvPr>
          <p:cNvSpPr/>
          <p:nvPr/>
        </p:nvSpPr>
        <p:spPr>
          <a:xfrm>
            <a:off x="7666892" y="4466492"/>
            <a:ext cx="1477108" cy="677008"/>
          </a:xfrm>
          <a:prstGeom prst="rect">
            <a:avLst/>
          </a:prstGeom>
          <a:solidFill>
            <a:srgbClr val="E8E8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163928C-8577-23D5-F668-4EBED4014D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53" y="540285"/>
            <a:ext cx="3532063" cy="353206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3759" y="337840"/>
            <a:ext cx="632743" cy="192286"/>
          </a:xfrm>
          <a:prstGeom prst="roundRect">
            <a:avLst>
              <a:gd name="adj" fmla="val 6635"/>
            </a:avLst>
          </a:prstGeom>
          <a:noFill/>
          <a:ln w="4763">
            <a:solidFill>
              <a:srgbClr val="1E1E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72294" y="374452"/>
            <a:ext cx="952872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650" dirty="0">
                <a:solidFill>
                  <a:srgbClr val="1E1E1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THE PROBLEM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903759" y="561975"/>
            <a:ext cx="4795019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PHISHING IS STILL WINNING</a:t>
            </a:r>
            <a:endParaRPr lang="en-US" sz="2050" dirty="0"/>
          </a:p>
        </p:txBody>
      </p:sp>
      <p:sp>
        <p:nvSpPr>
          <p:cNvPr id="6" name="Shape 3"/>
          <p:cNvSpPr/>
          <p:nvPr/>
        </p:nvSpPr>
        <p:spPr>
          <a:xfrm>
            <a:off x="5845746" y="1103486"/>
            <a:ext cx="2399109" cy="950640"/>
          </a:xfrm>
          <a:prstGeom prst="roundRect">
            <a:avLst>
              <a:gd name="adj" fmla="val 7214"/>
            </a:avLst>
          </a:prstGeom>
          <a:solidFill>
            <a:srgbClr val="E8E8E3"/>
          </a:solidFill>
          <a:ln w="14288">
            <a:solidFill>
              <a:srgbClr val="C8CA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831458" y="1103486"/>
            <a:ext cx="57150" cy="950640"/>
          </a:xfrm>
          <a:prstGeom prst="roundRect">
            <a:avLst>
              <a:gd name="adj" fmla="val 27907"/>
            </a:avLst>
          </a:prstGeom>
          <a:solidFill>
            <a:srgbClr val="C8CAC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009159" y="1224037"/>
            <a:ext cx="2115145" cy="332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90% OF BREACHES START WITH PHISHING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009159" y="1635919"/>
            <a:ext cx="2115145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Human error remains the #1 attack vector — yet most training ignores it.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845746" y="2133823"/>
            <a:ext cx="2399109" cy="950640"/>
          </a:xfrm>
          <a:prstGeom prst="roundRect">
            <a:avLst>
              <a:gd name="adj" fmla="val 7214"/>
            </a:avLst>
          </a:prstGeom>
          <a:solidFill>
            <a:srgbClr val="E8E8E3"/>
          </a:solidFill>
          <a:ln w="14288">
            <a:solidFill>
              <a:srgbClr val="C8CA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831458" y="2133823"/>
            <a:ext cx="57150" cy="950640"/>
          </a:xfrm>
          <a:prstGeom prst="roundRect">
            <a:avLst>
              <a:gd name="adj" fmla="val 27907"/>
            </a:avLst>
          </a:prstGeom>
          <a:solidFill>
            <a:srgbClr val="C8CAC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009159" y="2254374"/>
            <a:ext cx="2115145" cy="332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TRADITIONAL TRAINING IS PASSIVE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009159" y="2666256"/>
            <a:ext cx="2115145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Slide decks and videos don't test real behavior. Employees click when it counts.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5845746" y="3164160"/>
            <a:ext cx="2399109" cy="784547"/>
          </a:xfrm>
          <a:prstGeom prst="roundRect">
            <a:avLst>
              <a:gd name="adj" fmla="val 8741"/>
            </a:avLst>
          </a:prstGeom>
          <a:solidFill>
            <a:srgbClr val="E8E8E3"/>
          </a:solidFill>
          <a:ln w="14288">
            <a:solidFill>
              <a:srgbClr val="C8CA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5831458" y="3164160"/>
            <a:ext cx="57150" cy="784547"/>
          </a:xfrm>
          <a:prstGeom prst="roundRect">
            <a:avLst>
              <a:gd name="adj" fmla="val 27907"/>
            </a:avLst>
          </a:prstGeom>
          <a:solidFill>
            <a:srgbClr val="C8CAC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009159" y="3284711"/>
            <a:ext cx="2201168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NO REAL MEASUREMENT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009159" y="3530501"/>
            <a:ext cx="2115145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Without tracking who falls for what, organizations can't improve or prioritize risk.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1249189" y="4234309"/>
            <a:ext cx="6884715" cy="4464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endParaRPr lang="en-US" sz="8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DC7999A-656D-5008-4E40-0BE16805D88B}"/>
              </a:ext>
            </a:extLst>
          </p:cNvPr>
          <p:cNvSpPr/>
          <p:nvPr/>
        </p:nvSpPr>
        <p:spPr>
          <a:xfrm>
            <a:off x="7666892" y="4466492"/>
            <a:ext cx="1477108" cy="677008"/>
          </a:xfrm>
          <a:prstGeom prst="rect">
            <a:avLst/>
          </a:prstGeom>
          <a:solidFill>
            <a:srgbClr val="E8E8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 descr="10 Tips for Employees to Prevent Phishing Attacks">
            <a:extLst>
              <a:ext uri="{FF2B5EF4-FFF2-40B4-BE49-F238E27FC236}">
                <a16:creationId xmlns:a16="http://schemas.microsoft.com/office/drawing/2014/main" id="{DF7FE644-CFEA-D842-1D12-95A6B8AB82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890" y="1071620"/>
            <a:ext cx="3861938" cy="298530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6393" y="347365"/>
            <a:ext cx="729555" cy="218033"/>
          </a:xfrm>
          <a:prstGeom prst="roundRect">
            <a:avLst>
              <a:gd name="adj" fmla="val 6705"/>
            </a:avLst>
          </a:prstGeom>
          <a:solidFill>
            <a:srgbClr val="E7E7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99467" y="383902"/>
            <a:ext cx="1040606" cy="144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THE SOLUTION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26393" y="607219"/>
            <a:ext cx="3502968" cy="380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MEET PHISH-SIM</a:t>
            </a:r>
            <a:endParaRPr lang="en-US" sz="2350" dirty="0"/>
          </a:p>
        </p:txBody>
      </p:sp>
      <p:sp>
        <p:nvSpPr>
          <p:cNvPr id="5" name="Text 3"/>
          <p:cNvSpPr/>
          <p:nvPr/>
        </p:nvSpPr>
        <p:spPr>
          <a:xfrm>
            <a:off x="426393" y="1144935"/>
            <a:ext cx="8291215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PhishSim is a full-featured platform that lets security teams create, launch, and track realistic phishing simulations — turning every mistake into a measurable learning moment.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26393" y="1625054"/>
            <a:ext cx="4093294" cy="1148060"/>
          </a:xfrm>
          <a:prstGeom prst="roundRect">
            <a:avLst>
              <a:gd name="adj" fmla="val 1592"/>
            </a:avLst>
          </a:prstGeom>
          <a:solidFill>
            <a:srgbClr val="D8D9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208" y="1746870"/>
            <a:ext cx="365447" cy="365447"/>
          </a:xfrm>
          <a:prstGeom prst="roundRect">
            <a:avLst>
              <a:gd name="adj" fmla="val 15636819"/>
            </a:avLst>
          </a:prstGeom>
          <a:solidFill>
            <a:srgbClr val="C8CAC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8667" y="1847329"/>
            <a:ext cx="164455" cy="16445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208" y="2216944"/>
            <a:ext cx="19800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CREATE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48208" y="2470100"/>
            <a:ext cx="4306863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Build campaigns with real phishing templates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624313" y="1625054"/>
            <a:ext cx="4093294" cy="1148060"/>
          </a:xfrm>
          <a:prstGeom prst="roundRect">
            <a:avLst>
              <a:gd name="adj" fmla="val 1592"/>
            </a:avLst>
          </a:prstGeom>
          <a:solidFill>
            <a:srgbClr val="D8D9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746129" y="1746870"/>
            <a:ext cx="365447" cy="365447"/>
          </a:xfrm>
          <a:prstGeom prst="roundRect">
            <a:avLst>
              <a:gd name="adj" fmla="val 15636819"/>
            </a:avLst>
          </a:prstGeom>
          <a:solidFill>
            <a:srgbClr val="C8CAC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46588" y="1847329"/>
            <a:ext cx="164455" cy="16445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746129" y="2216944"/>
            <a:ext cx="19800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LAUNCH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4746129" y="2470100"/>
            <a:ext cx="4306863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Send simulated phishing emails to targeted groups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426393" y="2877741"/>
            <a:ext cx="4093294" cy="1148060"/>
          </a:xfrm>
          <a:prstGeom prst="roundRect">
            <a:avLst>
              <a:gd name="adj" fmla="val 1592"/>
            </a:avLst>
          </a:prstGeom>
          <a:solidFill>
            <a:srgbClr val="D8D9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548208" y="2999556"/>
            <a:ext cx="365447" cy="365447"/>
          </a:xfrm>
          <a:prstGeom prst="roundRect">
            <a:avLst>
              <a:gd name="adj" fmla="val 15636819"/>
            </a:avLst>
          </a:prstGeom>
          <a:solidFill>
            <a:srgbClr val="C8CAC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8667" y="3100015"/>
            <a:ext cx="164455" cy="16445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48208" y="3469630"/>
            <a:ext cx="19800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TRACK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548208" y="3722787"/>
            <a:ext cx="4306863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Monitor opens, clicks, and compromises in real time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4624313" y="2877741"/>
            <a:ext cx="4093294" cy="1148060"/>
          </a:xfrm>
          <a:prstGeom prst="roundRect">
            <a:avLst>
              <a:gd name="adj" fmla="val 1592"/>
            </a:avLst>
          </a:prstGeom>
          <a:solidFill>
            <a:srgbClr val="D8D9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4746129" y="2999556"/>
            <a:ext cx="365447" cy="365447"/>
          </a:xfrm>
          <a:prstGeom prst="roundRect">
            <a:avLst>
              <a:gd name="adj" fmla="val 15636819"/>
            </a:avLst>
          </a:prstGeom>
          <a:solidFill>
            <a:srgbClr val="C8CAC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46588" y="3100015"/>
            <a:ext cx="164455" cy="164455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746129" y="3469630"/>
            <a:ext cx="19800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LEARN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4746129" y="3722787"/>
            <a:ext cx="4306863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Deliver instant feedback and training at the teachable moment</a:t>
            </a:r>
            <a:endParaRPr lang="en-US" sz="950" dirty="0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208" y="4322490"/>
            <a:ext cx="152251" cy="12181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822275" y="4278585"/>
            <a:ext cx="7773516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endParaRPr lang="en-US" sz="95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42FE765-040D-52C1-CBDB-C5619953EB0B}"/>
              </a:ext>
            </a:extLst>
          </p:cNvPr>
          <p:cNvSpPr/>
          <p:nvPr/>
        </p:nvSpPr>
        <p:spPr>
          <a:xfrm>
            <a:off x="7666892" y="4466492"/>
            <a:ext cx="1477108" cy="677008"/>
          </a:xfrm>
          <a:prstGeom prst="rect">
            <a:avLst/>
          </a:prstGeom>
          <a:solidFill>
            <a:srgbClr val="E8E8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65162" y="385018"/>
            <a:ext cx="797719" cy="253901"/>
          </a:xfrm>
          <a:prstGeom prst="roundRect">
            <a:avLst>
              <a:gd name="adj" fmla="val 6282"/>
            </a:avLst>
          </a:prstGeom>
          <a:noFill/>
          <a:ln w="4763">
            <a:solidFill>
              <a:srgbClr val="1E1E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9622" y="429592"/>
            <a:ext cx="1085999" cy="164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800" dirty="0">
                <a:solidFill>
                  <a:srgbClr val="1E1E1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KEY FEATURES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65162" y="688702"/>
            <a:ext cx="8213675" cy="830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EVERYTHING YOU NEED TO RUN SIMULATIONS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465126" y="2815511"/>
            <a:ext cx="1936552" cy="4153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EMPLOYEE DIRECTORY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65126" y="3328472"/>
            <a:ext cx="1936552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Import and organize employees by department for targeted campaigns.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2509206" y="2926815"/>
            <a:ext cx="2311152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CAMPAIGN BUILDER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2557427" y="3332282"/>
            <a:ext cx="1936626" cy="617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Pre-built phishing templates with a drag-and-drop campaign configurator.</a:t>
            </a:r>
            <a:endParaRPr lang="en-US" sz="1000" dirty="0"/>
          </a:p>
        </p:txBody>
      </p:sp>
      <p:sp>
        <p:nvSpPr>
          <p:cNvPr id="12" name="Text 7"/>
          <p:cNvSpPr/>
          <p:nvPr/>
        </p:nvSpPr>
        <p:spPr>
          <a:xfrm>
            <a:off x="4649837" y="2873276"/>
            <a:ext cx="1936626" cy="4153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AI EMAIL GENERATION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4649802" y="3355107"/>
            <a:ext cx="1936626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MiniMax AI crafts personalized, realistic phishing emails at scale.</a:t>
            </a:r>
            <a:endParaRPr lang="en-US" sz="1000" dirty="0"/>
          </a:p>
        </p:txBody>
      </p:sp>
      <p:sp>
        <p:nvSpPr>
          <p:cNvPr id="15" name="Text 9"/>
          <p:cNvSpPr/>
          <p:nvPr/>
        </p:nvSpPr>
        <p:spPr>
          <a:xfrm>
            <a:off x="6742212" y="2842539"/>
            <a:ext cx="1936626" cy="4153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ANALYTICS DASHBOARD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6742212" y="3316338"/>
            <a:ext cx="1936626" cy="617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Track open rate, click rate, compromise rate, report rate, and department risk.</a:t>
            </a:r>
            <a:endParaRPr lang="en-US" sz="10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66" y="4001616"/>
            <a:ext cx="166092" cy="132904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97062" y="3961954"/>
            <a:ext cx="7648873" cy="617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endParaRPr lang="en-US" sz="10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6410BE7-76A9-3F54-97CB-F6D432AC99A0}"/>
              </a:ext>
            </a:extLst>
          </p:cNvPr>
          <p:cNvSpPr/>
          <p:nvPr/>
        </p:nvSpPr>
        <p:spPr>
          <a:xfrm>
            <a:off x="7666892" y="4466492"/>
            <a:ext cx="1477108" cy="677008"/>
          </a:xfrm>
          <a:prstGeom prst="rect">
            <a:avLst/>
          </a:prstGeom>
          <a:solidFill>
            <a:srgbClr val="E8E8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C1B0A41C-DFDF-9B7A-F883-0F323C4F76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290" y="1539227"/>
            <a:ext cx="1822583" cy="1178702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A5E7C187-D848-8CE8-7994-F56F87811C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63404" y="1488395"/>
            <a:ext cx="1962910" cy="1265509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D4A95565-F984-F227-75B6-12309B2A95E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4012" b="7286"/>
          <a:stretch>
            <a:fillRect/>
          </a:stretch>
        </p:blipFill>
        <p:spPr>
          <a:xfrm>
            <a:off x="4582063" y="1199079"/>
            <a:ext cx="1769139" cy="1564659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8D189EA5-48E6-6541-3853-F3F61197835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6761" y="1237024"/>
            <a:ext cx="2149949" cy="148876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0182" y="336575"/>
            <a:ext cx="748457" cy="187375"/>
          </a:xfrm>
          <a:prstGeom prst="roundRect">
            <a:avLst>
              <a:gd name="adj" fmla="val 6668"/>
            </a:avLst>
          </a:prstGeom>
          <a:noFill/>
          <a:ln w="4763">
            <a:solidFill>
              <a:srgbClr val="1E1E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47378" y="372517"/>
            <a:ext cx="1071265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650" dirty="0">
                <a:solidFill>
                  <a:srgbClr val="1E1E1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DEMO WORKFLOW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980182" y="554459"/>
            <a:ext cx="6865813" cy="325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FROM ONBOARDING TO INSIGHT IN MINUTES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80182" y="994470"/>
            <a:ext cx="7640762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PhishSim's workflow is designed for non-technical security admins. Here's the full user journey from setup to results.</a:t>
            </a:r>
            <a:endParaRPr lang="en-US" sz="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226" y="1224855"/>
            <a:ext cx="6953473" cy="2609255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33562" y="1889479"/>
            <a:ext cx="359174" cy="35917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713560" y="2998654"/>
            <a:ext cx="1048788" cy="6061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LAUNCH SIMULATION</a:t>
            </a:r>
            <a:endParaRPr lang="en-US" sz="12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18647" y="1890153"/>
            <a:ext cx="359175" cy="35917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391799" y="2998654"/>
            <a:ext cx="1048788" cy="6061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CONFIGURE CAMPAIGN</a:t>
            </a:r>
            <a:endParaRPr lang="en-US" sz="12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04070" y="1890153"/>
            <a:ext cx="359174" cy="35917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077222" y="3099672"/>
            <a:ext cx="1048788" cy="404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CHOOSE TEMPLATE</a:t>
            </a:r>
            <a:endParaRPr lang="en-US" sz="12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089493" y="1890153"/>
            <a:ext cx="359174" cy="35917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2762645" y="3099672"/>
            <a:ext cx="1048788" cy="404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ADD EMPLOYEES</a:t>
            </a:r>
            <a:endParaRPr lang="en-US" sz="125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767732" y="1890153"/>
            <a:ext cx="359174" cy="359174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419333" y="3099672"/>
            <a:ext cx="1048789" cy="404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ONBOARD ORG</a:t>
            </a:r>
            <a:endParaRPr lang="en-US" sz="1250" dirty="0"/>
          </a:p>
        </p:txBody>
      </p:sp>
      <p:sp>
        <p:nvSpPr>
          <p:cNvPr id="17" name="Text 9"/>
          <p:cNvSpPr/>
          <p:nvPr/>
        </p:nvSpPr>
        <p:spPr>
          <a:xfrm>
            <a:off x="980182" y="3920058"/>
            <a:ext cx="7640762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Every step is guided, taking under 10 minutes from first login to a live simulation running across your organization.</a:t>
            </a:r>
            <a:endParaRPr lang="en-US" sz="800" dirty="0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4287" y="4294138"/>
            <a:ext cx="130076" cy="104105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1318468" y="4252838"/>
            <a:ext cx="6741170" cy="433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endParaRPr lang="en-US" sz="8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1AA0F95-45D8-8A03-9858-8D141C5B2E97}"/>
              </a:ext>
            </a:extLst>
          </p:cNvPr>
          <p:cNvSpPr/>
          <p:nvPr/>
        </p:nvSpPr>
        <p:spPr>
          <a:xfrm>
            <a:off x="7666892" y="4466492"/>
            <a:ext cx="1477108" cy="677008"/>
          </a:xfrm>
          <a:prstGeom prst="rect">
            <a:avLst/>
          </a:prstGeom>
          <a:solidFill>
            <a:srgbClr val="E8E8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3029" y="291852"/>
            <a:ext cx="697334" cy="168325"/>
          </a:xfrm>
          <a:prstGeom prst="roundRect">
            <a:avLst>
              <a:gd name="adj" fmla="val 7106"/>
            </a:avLst>
          </a:prstGeom>
          <a:solidFill>
            <a:srgbClr val="E7E7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192783" y="321692"/>
            <a:ext cx="1035025" cy="108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6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UNDER THE HOOD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1133029" y="488156"/>
            <a:ext cx="4578251" cy="311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BUILT MODERN. BUILT SECURE.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133029" y="974750"/>
            <a:ext cx="1703189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TECH STACK</a:t>
            </a:r>
            <a:endParaRPr lang="en-US" sz="9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0384" y="1212317"/>
            <a:ext cx="149498" cy="14949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56879" y="1209229"/>
            <a:ext cx="2144018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NEXT.JS 15 + TYPESCRIPT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1456879" y="1434926"/>
            <a:ext cx="3450654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Fast, type-safe React framework</a:t>
            </a:r>
            <a:endParaRPr lang="en-US" sz="7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0384" y="1713942"/>
            <a:ext cx="149498" cy="14949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56879" y="1710854"/>
            <a:ext cx="2583656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SUPABASE AUTH + POSTGRESQL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1456879" y="1936552"/>
            <a:ext cx="3450654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Secure auth and scalable database</a:t>
            </a:r>
            <a:endParaRPr lang="en-US" sz="7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0384" y="2215567"/>
            <a:ext cx="149498" cy="14949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56879" y="2212479"/>
            <a:ext cx="1703189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DRIZZLE ORM</a:t>
            </a:r>
            <a:endParaRPr lang="en-US" sz="950" dirty="0"/>
          </a:p>
        </p:txBody>
      </p:sp>
      <p:sp>
        <p:nvSpPr>
          <p:cNvPr id="14" name="Text 9"/>
          <p:cNvSpPr/>
          <p:nvPr/>
        </p:nvSpPr>
        <p:spPr>
          <a:xfrm>
            <a:off x="1456879" y="2438177"/>
            <a:ext cx="3450654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Type-safe database queries</a:t>
            </a:r>
            <a:endParaRPr lang="en-US" sz="7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0384" y="2717192"/>
            <a:ext cx="149498" cy="14949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456879" y="2714104"/>
            <a:ext cx="1703189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RESEND</a:t>
            </a:r>
            <a:endParaRPr lang="en-US" sz="950" dirty="0"/>
          </a:p>
        </p:txBody>
      </p:sp>
      <p:sp>
        <p:nvSpPr>
          <p:cNvPr id="17" name="Text 11"/>
          <p:cNvSpPr/>
          <p:nvPr/>
        </p:nvSpPr>
        <p:spPr>
          <a:xfrm>
            <a:off x="1456879" y="2939802"/>
            <a:ext cx="3450654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Reliable email delivery infrastructure</a:t>
            </a:r>
            <a:endParaRPr lang="en-US" sz="75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0384" y="3218817"/>
            <a:ext cx="149498" cy="14949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456879" y="3215729"/>
            <a:ext cx="1703189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MINIMAX AI</a:t>
            </a:r>
            <a:endParaRPr lang="en-US" sz="950" dirty="0"/>
          </a:p>
        </p:txBody>
      </p:sp>
      <p:sp>
        <p:nvSpPr>
          <p:cNvPr id="20" name="Text 13"/>
          <p:cNvSpPr/>
          <p:nvPr/>
        </p:nvSpPr>
        <p:spPr>
          <a:xfrm>
            <a:off x="1456879" y="3441427"/>
            <a:ext cx="3450654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Realistic phishing content generation</a:t>
            </a:r>
            <a:endParaRPr lang="en-US" sz="75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0384" y="3720443"/>
            <a:ext cx="149498" cy="149498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456879" y="3717354"/>
            <a:ext cx="2406774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TAILWIND CSS + SHADCN/UI</a:t>
            </a:r>
            <a:endParaRPr lang="en-US" sz="950" dirty="0"/>
          </a:p>
        </p:txBody>
      </p:sp>
      <p:sp>
        <p:nvSpPr>
          <p:cNvPr id="23" name="Text 15"/>
          <p:cNvSpPr/>
          <p:nvPr/>
        </p:nvSpPr>
        <p:spPr>
          <a:xfrm>
            <a:off x="1456879" y="3943052"/>
            <a:ext cx="3450654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Consistent, accessible UI components</a:t>
            </a:r>
            <a:endParaRPr lang="en-US" sz="750" dirty="0"/>
          </a:p>
        </p:txBody>
      </p:sp>
      <p:sp>
        <p:nvSpPr>
          <p:cNvPr id="24" name="Shape 16"/>
          <p:cNvSpPr/>
          <p:nvPr/>
        </p:nvSpPr>
        <p:spPr>
          <a:xfrm>
            <a:off x="4626471" y="904726"/>
            <a:ext cx="3460924" cy="3252936"/>
          </a:xfrm>
          <a:prstGeom prst="roundRect">
            <a:avLst>
              <a:gd name="adj" fmla="val 460"/>
            </a:avLst>
          </a:prstGeom>
          <a:solidFill>
            <a:srgbClr val="1E1E1A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5" name="Text 17"/>
          <p:cNvSpPr/>
          <p:nvPr/>
        </p:nvSpPr>
        <p:spPr>
          <a:xfrm>
            <a:off x="4726112" y="974750"/>
            <a:ext cx="1703189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WHY THIS STACK</a:t>
            </a:r>
            <a:endParaRPr lang="en-US" sz="950" dirty="0"/>
          </a:p>
        </p:txBody>
      </p:sp>
      <p:sp>
        <p:nvSpPr>
          <p:cNvPr id="26" name="Text 18"/>
          <p:cNvSpPr/>
          <p:nvPr/>
        </p:nvSpPr>
        <p:spPr>
          <a:xfrm>
            <a:off x="4726112" y="1200448"/>
            <a:ext cx="3261643" cy="4074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Every technology was chosen for security, developer experience, and production readiness — the same standards we expect from the tools we're simulating against.</a:t>
            </a:r>
            <a:endParaRPr lang="en-US" sz="750" dirty="0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2669" y="4373761"/>
            <a:ext cx="124569" cy="996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456879" y="4331345"/>
            <a:ext cx="6454378" cy="4074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endParaRPr lang="en-US" sz="75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A99CA51-E974-237D-4F33-6CFCCC150132}"/>
              </a:ext>
            </a:extLst>
          </p:cNvPr>
          <p:cNvSpPr/>
          <p:nvPr/>
        </p:nvSpPr>
        <p:spPr>
          <a:xfrm>
            <a:off x="7666892" y="4466492"/>
            <a:ext cx="1477108" cy="677008"/>
          </a:xfrm>
          <a:prstGeom prst="rect">
            <a:avLst/>
          </a:prstGeom>
          <a:solidFill>
            <a:srgbClr val="E8E8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30" descr="Next.js | Drupal.org">
            <a:extLst>
              <a:ext uri="{FF2B5EF4-FFF2-40B4-BE49-F238E27FC236}">
                <a16:creationId xmlns:a16="http://schemas.microsoft.com/office/drawing/2014/main" id="{74C8BA4E-0DDA-1EEC-FB34-5E69EE2B5D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7815" y="1677889"/>
            <a:ext cx="919782" cy="919782"/>
          </a:xfrm>
          <a:prstGeom prst="rect">
            <a:avLst/>
          </a:prstGeom>
        </p:spPr>
      </p:pic>
      <p:pic>
        <p:nvPicPr>
          <p:cNvPr id="32" name="Picture 31" descr="TypeScript - Wikipedia">
            <a:extLst>
              <a:ext uri="{FF2B5EF4-FFF2-40B4-BE49-F238E27FC236}">
                <a16:creationId xmlns:a16="http://schemas.microsoft.com/office/drawing/2014/main" id="{DB502613-A0CB-AA13-2DB8-41E3FDD212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0790" y="1607865"/>
            <a:ext cx="1025906" cy="1025906"/>
          </a:xfrm>
          <a:prstGeom prst="rect">
            <a:avLst/>
          </a:prstGeom>
        </p:spPr>
      </p:pic>
      <p:pic>
        <p:nvPicPr>
          <p:cNvPr id="33" name="Picture 32" descr="Supabase - YouTube">
            <a:extLst>
              <a:ext uri="{FF2B5EF4-FFF2-40B4-BE49-F238E27FC236}">
                <a16:creationId xmlns:a16="http://schemas.microsoft.com/office/drawing/2014/main" id="{27AF5599-3D8D-4DEA-E3A2-DE74F73EEEA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55136" y="2801826"/>
            <a:ext cx="845140" cy="845140"/>
          </a:xfrm>
          <a:prstGeom prst="rect">
            <a:avLst/>
          </a:prstGeom>
        </p:spPr>
      </p:pic>
      <p:pic>
        <p:nvPicPr>
          <p:cNvPr id="34" name="Picture 33" descr="MiniMax valuation, funding &amp; news | Sacra">
            <a:extLst>
              <a:ext uri="{FF2B5EF4-FFF2-40B4-BE49-F238E27FC236}">
                <a16:creationId xmlns:a16="http://schemas.microsoft.com/office/drawing/2014/main" id="{5C1A64D3-79C7-00BC-13D0-AE5158B70A5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60356" y="2798326"/>
            <a:ext cx="1026765" cy="102676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9610" y="385986"/>
            <a:ext cx="1146423" cy="233660"/>
          </a:xfrm>
          <a:prstGeom prst="roundRect">
            <a:avLst>
              <a:gd name="adj" fmla="val 6598"/>
            </a:avLst>
          </a:prstGeom>
          <a:solidFill>
            <a:srgbClr val="E7E7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26628" y="424458"/>
            <a:ext cx="1449586" cy="156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IMPACT &amp; WHAT'S NEXT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49610" y="666155"/>
            <a:ext cx="8244780" cy="802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MEASURABLE AWARENESS. STRONGER CULTURE.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49610" y="1643658"/>
            <a:ext cx="8244780" cy="1433215"/>
          </a:xfrm>
          <a:prstGeom prst="roundRect">
            <a:avLst>
              <a:gd name="adj" fmla="val 1345"/>
            </a:avLst>
          </a:prstGeom>
          <a:solidFill>
            <a:srgbClr val="D8D9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49610" y="1643658"/>
            <a:ext cx="4122390" cy="1433215"/>
          </a:xfrm>
          <a:prstGeom prst="roundRect">
            <a:avLst>
              <a:gd name="adj" fmla="val 1345"/>
            </a:avLst>
          </a:prstGeom>
          <a:solidFill>
            <a:srgbClr val="D8D9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78048" y="1772096"/>
            <a:ext cx="20631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TODAY'S IMPACT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78048" y="2042592"/>
            <a:ext cx="3865513" cy="9058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7000"/>
              </a:lnSpc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Measurable security awareness scores</a:t>
            </a:r>
            <a:endParaRPr lang="en-US" sz="1000" dirty="0"/>
          </a:p>
          <a:p>
            <a:pPr marL="342900" indent="-342900" algn="l">
              <a:lnSpc>
                <a:spcPct val="127000"/>
              </a:lnSpc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Realistic, repeatable practice scenarios</a:t>
            </a:r>
            <a:endParaRPr lang="en-US" sz="1000" dirty="0"/>
          </a:p>
          <a:p>
            <a:pPr marL="342900" indent="-342900" algn="l">
              <a:lnSpc>
                <a:spcPct val="127000"/>
              </a:lnSpc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Department-level risk visibility</a:t>
            </a:r>
            <a:endParaRPr lang="en-US" sz="1000" dirty="0"/>
          </a:p>
          <a:p>
            <a:pPr marL="342900" indent="-342900" algn="l">
              <a:lnSpc>
                <a:spcPct val="127000"/>
              </a:lnSpc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Stronger security culture over time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0" y="1643658"/>
            <a:ext cx="4122390" cy="1433215"/>
          </a:xfrm>
          <a:prstGeom prst="rect">
            <a:avLst/>
          </a:prstGeom>
          <a:solidFill>
            <a:srgbClr val="D8D9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0" y="1643658"/>
            <a:ext cx="14288" cy="1433215"/>
          </a:xfrm>
          <a:prstGeom prst="roundRect">
            <a:avLst>
              <a:gd name="adj" fmla="val 134879"/>
            </a:avLst>
          </a:prstGeom>
          <a:solidFill>
            <a:srgbClr val="AEB0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00439" y="1772096"/>
            <a:ext cx="20631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COMING NEXT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700439" y="2042592"/>
            <a:ext cx="3865513" cy="9058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7000"/>
              </a:lnSpc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Expanded training modules and content library</a:t>
            </a:r>
            <a:endParaRPr lang="en-US" sz="1000" dirty="0"/>
          </a:p>
          <a:p>
            <a:pPr marL="342900" indent="-342900" algn="l">
              <a:lnSpc>
                <a:spcPct val="127000"/>
              </a:lnSpc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Richer, exportable reports for compliance</a:t>
            </a:r>
            <a:endParaRPr lang="en-US" sz="1000" dirty="0"/>
          </a:p>
          <a:p>
            <a:pPr marL="342900" indent="-342900" algn="l">
              <a:lnSpc>
                <a:spcPct val="127000"/>
              </a:lnSpc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SMS and voice phishing (vishing) simulations</a:t>
            </a:r>
            <a:endParaRPr lang="en-US" sz="1000" dirty="0"/>
          </a:p>
          <a:p>
            <a:pPr marL="342900" indent="-342900" algn="l">
              <a:lnSpc>
                <a:spcPct val="127000"/>
              </a:lnSpc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Automated risk recommendations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67073" y="3356297"/>
            <a:ext cx="7698879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867073" y="4196581"/>
            <a:ext cx="7698879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endParaRPr lang="en-US" sz="10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F7AC31B-353A-4556-4B71-78C6C6BCC34A}"/>
              </a:ext>
            </a:extLst>
          </p:cNvPr>
          <p:cNvSpPr/>
          <p:nvPr/>
        </p:nvSpPr>
        <p:spPr>
          <a:xfrm>
            <a:off x="7666892" y="4466492"/>
            <a:ext cx="1477108" cy="677008"/>
          </a:xfrm>
          <a:prstGeom prst="rect">
            <a:avLst/>
          </a:prstGeom>
          <a:solidFill>
            <a:srgbClr val="E8E8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430</Words>
  <Application>Microsoft Office PowerPoint</Application>
  <PresentationFormat>On-screen Show (16:9)</PresentationFormat>
  <Paragraphs>79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Roboto Condensed</vt:lpstr>
      <vt:lpstr>Hubot Sans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Heshan Jayakody</cp:lastModifiedBy>
  <cp:revision>3</cp:revision>
  <dcterms:created xsi:type="dcterms:W3CDTF">2026-05-17T07:54:08Z</dcterms:created>
  <dcterms:modified xsi:type="dcterms:W3CDTF">2026-05-17T08:23:10Z</dcterms:modified>
</cp:coreProperties>
</file>